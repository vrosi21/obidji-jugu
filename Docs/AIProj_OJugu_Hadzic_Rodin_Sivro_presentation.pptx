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4"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0:00–0:25</a:t>
            </a:r>
          </a:p>
          <a:p>
            <a:r>
              <a:t>Obiđi Jugu lets users create and solve a Traveling Salesman Problem on a network of cities in the former Yugoslavia. Users choose required destinations and edit connections and weights. We can interpret city weights as congestion factors, so the shortest distance does not necessarily produce the lowest cost.</a:t>
            </a:r>
          </a:p>
          <a:p>
            <a:r>
              <a:t>Image source: user-provided Docs/screenshots/main-application-view.png.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0:25–1:00</a:t>
            </a:r>
          </a:p>
          <a:p>
            <a:r>
              <a:t>We implemented Nearest Neighbor with optional 2-opt improvement, Simulated Annealing, a Genetic Algorithm and Exact TSP. Each result is automatically compared with a benchmark. For up to ten required cities, we compute the exact optimum. For larger problems, we use NN with 2-opt, which does not guarantee optimality. Delta shows the cost difference. A negative delta against the heuristic benchmark means we found a better route.</a:t>
            </a:r>
          </a:p>
          <a:p>
            <a:r>
              <a:t>Required cities are Start and Goal cities, not every city on the map. The cost calculation preserves city weights. Exact TSP is also a standalone option without this automatic size limit.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1:00–1:30</a:t>
            </a:r>
          </a:p>
          <a:p>
            <a:r>
              <a:t>We edit the problem through the city table and controls, then review the result in the route table or through Replay. Users can hide city labels and the map. The solver runs in a background thread, so the application stays interactive and computation can be cancelled. During resizing, we use a bitmap cache and simplified rendering. Now we will demonstrate the workflow.</a:t>
            </a:r>
          </a:p>
          <a:p>
            <a:r>
              <a:t>DEMO 1:30–3:45</a:t>
            </a:r>
          </a:p>
          <a:p>
            <a:r>
              <a:t>0–25 seconds: Select a city, change its weight or status and click Update.</a:t>
            </a:r>
          </a:p>
          <a:p>
            <a:r>
              <a:t>25–55 seconds: Run NN on a prepared problem with up to 10 required cities. Show the cost, Exact benchmark and delta.</a:t>
            </a:r>
          </a:p>
          <a:p>
            <a:r>
              <a:t>55–80 seconds: Enable 2-opt, click Resolve and compare. Do not promise improvement unless the prepared instance produces it.</a:t>
            </a:r>
          </a:p>
          <a:p>
            <a:r>
              <a:t>80–100 seconds: Show Replay and cumulative distance in the route table.</a:t>
            </a:r>
          </a:p>
          <a:p>
            <a:r>
              <a:t>100–115 seconds: Toggle city labels and the map, then move the splitter.</a:t>
            </a:r>
          </a:p>
          <a:p>
            <a:r>
              <a:t>115–135 seconds: Run Exact TSP on a larger prepared problem. Show that the UI stays responsive and cancel with Reset. Do not claim it can never finish.</a:t>
            </a:r>
          </a:p>
          <a:p>
            <a:r>
              <a:t>CONCLUSION: The application combines problem editing, different search strategies and clear result comparison in a responsive interface.</a:t>
            </a:r>
          </a:p>
          <a:p>
            <a:r>
              <a:t>Allow 15 seconds of buffer time.</a:t>
            </a:r>
          </a:p>
          <a:p>
            <a:r>
              <a:t>Image source: user-provided Docs/screenshots/completed-solution.png.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77FA29C-5948-4FF0-AF2B-77A43A289B77}"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0AE8C9-B3CB-4FDF-B7F3-3E75E92FB8E1}"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45949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7FA29C-5948-4FF0-AF2B-77A43A289B77}"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0AE8C9-B3CB-4FDF-B7F3-3E75E92FB8E1}" type="slidenum">
              <a:rPr lang="en-US" smtClean="0"/>
              <a:t>‹#›</a:t>
            </a:fld>
            <a:endParaRPr lang="en-US"/>
          </a:p>
        </p:txBody>
      </p:sp>
    </p:spTree>
    <p:extLst>
      <p:ext uri="{BB962C8B-B14F-4D97-AF65-F5344CB8AC3E}">
        <p14:creationId xmlns:p14="http://schemas.microsoft.com/office/powerpoint/2010/main" val="4094697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7FA29C-5948-4FF0-AF2B-77A43A289B77}"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0AE8C9-B3CB-4FDF-B7F3-3E75E92FB8E1}" type="slidenum">
              <a:rPr lang="en-US" smtClean="0"/>
              <a:t>‹#›</a:t>
            </a:fld>
            <a:endParaRPr lang="en-US"/>
          </a:p>
        </p:txBody>
      </p:sp>
    </p:spTree>
    <p:extLst>
      <p:ext uri="{BB962C8B-B14F-4D97-AF65-F5344CB8AC3E}">
        <p14:creationId xmlns:p14="http://schemas.microsoft.com/office/powerpoint/2010/main" val="2434469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77FA29C-5948-4FF0-AF2B-77A43A289B77}"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0AE8C9-B3CB-4FDF-B7F3-3E75E92FB8E1}" type="slidenum">
              <a:rPr lang="en-US" smtClean="0"/>
              <a:t>‹#›</a:t>
            </a:fld>
            <a:endParaRPr lang="en-US"/>
          </a:p>
        </p:txBody>
      </p:sp>
    </p:spTree>
    <p:extLst>
      <p:ext uri="{BB962C8B-B14F-4D97-AF65-F5344CB8AC3E}">
        <p14:creationId xmlns:p14="http://schemas.microsoft.com/office/powerpoint/2010/main" val="3631465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7FA29C-5948-4FF0-AF2B-77A43A289B77}"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0AE8C9-B3CB-4FDF-B7F3-3E75E92FB8E1}" type="slidenum">
              <a:rPr lang="en-US" smtClean="0"/>
              <a:t>‹#›</a:t>
            </a:fld>
            <a:endParaRPr lang="en-US"/>
          </a:p>
        </p:txBody>
      </p:sp>
    </p:spTree>
    <p:extLst>
      <p:ext uri="{BB962C8B-B14F-4D97-AF65-F5344CB8AC3E}">
        <p14:creationId xmlns:p14="http://schemas.microsoft.com/office/powerpoint/2010/main" val="392613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77FA29C-5948-4FF0-AF2B-77A43A289B77}"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0AE8C9-B3CB-4FDF-B7F3-3E75E92FB8E1}" type="slidenum">
              <a:rPr lang="en-US" smtClean="0"/>
              <a:t>‹#›</a:t>
            </a:fld>
            <a:endParaRPr lang="en-US"/>
          </a:p>
        </p:txBody>
      </p:sp>
    </p:spTree>
    <p:extLst>
      <p:ext uri="{BB962C8B-B14F-4D97-AF65-F5344CB8AC3E}">
        <p14:creationId xmlns:p14="http://schemas.microsoft.com/office/powerpoint/2010/main" val="3647050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7FA29C-5948-4FF0-AF2B-77A43A289B77}"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0AE8C9-B3CB-4FDF-B7F3-3E75E92FB8E1}" type="slidenum">
              <a:rPr lang="en-US" smtClean="0"/>
              <a:t>‹#›</a:t>
            </a:fld>
            <a:endParaRPr lang="en-US"/>
          </a:p>
        </p:txBody>
      </p:sp>
    </p:spTree>
    <p:extLst>
      <p:ext uri="{BB962C8B-B14F-4D97-AF65-F5344CB8AC3E}">
        <p14:creationId xmlns:p14="http://schemas.microsoft.com/office/powerpoint/2010/main" val="2993097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FA29C-5948-4FF0-AF2B-77A43A289B77}"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0AE8C9-B3CB-4FDF-B7F3-3E75E92FB8E1}" type="slidenum">
              <a:rPr lang="en-US" smtClean="0"/>
              <a:t>‹#›</a:t>
            </a:fld>
            <a:endParaRPr lang="en-US"/>
          </a:p>
        </p:txBody>
      </p:sp>
    </p:spTree>
    <p:extLst>
      <p:ext uri="{BB962C8B-B14F-4D97-AF65-F5344CB8AC3E}">
        <p14:creationId xmlns:p14="http://schemas.microsoft.com/office/powerpoint/2010/main" val="1340668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FA29C-5948-4FF0-AF2B-77A43A289B77}"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0AE8C9-B3CB-4FDF-B7F3-3E75E92FB8E1}" type="slidenum">
              <a:rPr lang="en-US" smtClean="0"/>
              <a:t>‹#›</a:t>
            </a:fld>
            <a:endParaRPr lang="en-US"/>
          </a:p>
        </p:txBody>
      </p:sp>
    </p:spTree>
    <p:extLst>
      <p:ext uri="{BB962C8B-B14F-4D97-AF65-F5344CB8AC3E}">
        <p14:creationId xmlns:p14="http://schemas.microsoft.com/office/powerpoint/2010/main" val="1495737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377FA29C-5948-4FF0-AF2B-77A43A289B77}"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0AE8C9-B3CB-4FDF-B7F3-3E75E92FB8E1}" type="slidenum">
              <a:rPr lang="en-US" smtClean="0"/>
              <a:t>‹#›</a:t>
            </a:fld>
            <a:endParaRPr lang="en-US"/>
          </a:p>
        </p:txBody>
      </p:sp>
    </p:spTree>
    <p:extLst>
      <p:ext uri="{BB962C8B-B14F-4D97-AF65-F5344CB8AC3E}">
        <p14:creationId xmlns:p14="http://schemas.microsoft.com/office/powerpoint/2010/main" val="1112940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7FA29C-5948-4FF0-AF2B-77A43A289B77}"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0AE8C9-B3CB-4FDF-B7F3-3E75E92FB8E1}" type="slidenum">
              <a:rPr lang="en-US" smtClean="0"/>
              <a:t>‹#›</a:t>
            </a:fld>
            <a:endParaRPr lang="en-US"/>
          </a:p>
        </p:txBody>
      </p:sp>
    </p:spTree>
    <p:extLst>
      <p:ext uri="{BB962C8B-B14F-4D97-AF65-F5344CB8AC3E}">
        <p14:creationId xmlns:p14="http://schemas.microsoft.com/office/powerpoint/2010/main" val="1666610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7FA29C-5948-4FF0-AF2B-77A43A289B77}"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0AE8C9-B3CB-4FDF-B7F3-3E75E92FB8E1}"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5251340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7FA29C-5948-4FF0-AF2B-77A43A289B77}"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0AE8C9-B3CB-4FDF-B7F3-3E75E92FB8E1}" type="slidenum">
              <a:rPr lang="en-US" smtClean="0"/>
              <a:t>‹#›</a:t>
            </a:fld>
            <a:endParaRPr lang="en-US"/>
          </a:p>
        </p:txBody>
      </p:sp>
    </p:spTree>
    <p:extLst>
      <p:ext uri="{BB962C8B-B14F-4D97-AF65-F5344CB8AC3E}">
        <p14:creationId xmlns:p14="http://schemas.microsoft.com/office/powerpoint/2010/main" val="31209289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7FA29C-5948-4FF0-AF2B-77A43A289B77}"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0AE8C9-B3CB-4FDF-B7F3-3E75E92FB8E1}"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8626835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7FA29C-5948-4FF0-AF2B-77A43A289B77}"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0AE8C9-B3CB-4FDF-B7F3-3E75E92FB8E1}" type="slidenum">
              <a:rPr lang="en-US" smtClean="0"/>
              <a:t>‹#›</a:t>
            </a:fld>
            <a:endParaRPr lang="en-US"/>
          </a:p>
        </p:txBody>
      </p:sp>
    </p:spTree>
    <p:extLst>
      <p:ext uri="{BB962C8B-B14F-4D97-AF65-F5344CB8AC3E}">
        <p14:creationId xmlns:p14="http://schemas.microsoft.com/office/powerpoint/2010/main" val="8722163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7FA29C-5948-4FF0-AF2B-77A43A289B77}"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0AE8C9-B3CB-4FDF-B7F3-3E75E92FB8E1}" type="slidenum">
              <a:rPr lang="en-US" smtClean="0"/>
              <a:t>‹#›</a:t>
            </a:fld>
            <a:endParaRPr lang="en-US"/>
          </a:p>
        </p:txBody>
      </p:sp>
    </p:spTree>
    <p:extLst>
      <p:ext uri="{BB962C8B-B14F-4D97-AF65-F5344CB8AC3E}">
        <p14:creationId xmlns:p14="http://schemas.microsoft.com/office/powerpoint/2010/main" val="17234980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7FA29C-5948-4FF0-AF2B-77A43A289B77}"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0AE8C9-B3CB-4FDF-B7F3-3E75E92FB8E1}" type="slidenum">
              <a:rPr lang="en-US" smtClean="0"/>
              <a:t>‹#›</a:t>
            </a:fld>
            <a:endParaRPr lang="en-US"/>
          </a:p>
        </p:txBody>
      </p:sp>
    </p:spTree>
    <p:extLst>
      <p:ext uri="{BB962C8B-B14F-4D97-AF65-F5344CB8AC3E}">
        <p14:creationId xmlns:p14="http://schemas.microsoft.com/office/powerpoint/2010/main" val="21038205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7288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377FA29C-5948-4FF0-AF2B-77A43A289B77}" type="datetimeFigureOut">
              <a:rPr lang="en-US" smtClean="0"/>
              <a:t>9/18/2026</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250AE8C9-B3CB-4FDF-B7F3-3E75E92FB8E1}" type="slidenum">
              <a:rPr lang="en-US" smtClean="0"/>
              <a:t>‹#›</a:t>
            </a:fld>
            <a:endParaRPr lang="en-US"/>
          </a:p>
        </p:txBody>
      </p:sp>
    </p:spTree>
    <p:extLst>
      <p:ext uri="{BB962C8B-B14F-4D97-AF65-F5344CB8AC3E}">
        <p14:creationId xmlns:p14="http://schemas.microsoft.com/office/powerpoint/2010/main" val="4153270321"/>
      </p:ext>
    </p:extLst>
  </p:cSld>
  <p:clrMap bg1="dk1" tx1="lt1" bg2="dk2" tx2="lt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22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0BD0CDC-A87B-4AF6-A622-2926C00F31AF}"/>
              </a:ext>
            </a:extLst>
          </p:cNvPr>
          <p:cNvSpPr>
            <a:spLocks noGrp="1"/>
          </p:cNvSpPr>
          <p:nvPr/>
        </p:nvSpPr>
        <p:spPr>
          <a:xfrm>
            <a:off x="533400" y="6381750"/>
            <a:ext cx="6667500" cy="238125"/>
          </a:xfrm>
          <a:prstGeom prst="rect">
            <a:avLst/>
          </a:prstGeom>
          <a:noFill/>
          <a:ln w="0">
            <a:noFill/>
          </a:ln>
        </p:spPr>
        <p:txBody>
          <a:bodyPr>
            <a:noAutofit/>
          </a:bodyPr>
          <a:lstStyle/>
          <a:p>
            <a:pPr>
              <a:defRPr sz="1200" b="0">
                <a:solidFill>
                  <a:srgbClr val="B5C4D0"/>
                </a:solidFill>
                <a:latin typeface="Arial"/>
                <a:ea typeface="Arial"/>
                <a:cs typeface="Arial"/>
              </a:defRPr>
            </a:pPr>
            <a:r>
              <a:rPr sz="1200" b="0">
                <a:solidFill>
                  <a:srgbClr val="B5C4D0"/>
                </a:solidFill>
                <a:latin typeface="Arial"/>
                <a:ea typeface="Arial"/>
                <a:cs typeface="Arial"/>
              </a:rPr>
              <a:t>OBIĐI JUGU     1/3</a:t>
            </a:r>
          </a:p>
        </p:txBody>
      </p:sp>
      <p:sp>
        <p:nvSpPr>
          <p:cNvPr id="2" name="Rectangle 1">
            <a:extLst>
              <a:ext uri="{FF2B5EF4-FFF2-40B4-BE49-F238E27FC236}">
                <a16:creationId xmlns:a16="http://schemas.microsoft.com/office/drawing/2014/main" id="{2C361306-EC4A-43C7-89FB-CC232681334E}"/>
              </a:ext>
            </a:extLst>
          </p:cNvPr>
          <p:cNvSpPr>
            <a:spLocks noGrp="1"/>
          </p:cNvSpPr>
          <p:nvPr/>
        </p:nvSpPr>
        <p:spPr>
          <a:xfrm>
            <a:off x="533400" y="590550"/>
            <a:ext cx="5524500" cy="857250"/>
          </a:xfrm>
          <a:prstGeom prst="rect">
            <a:avLst/>
          </a:prstGeom>
          <a:noFill/>
          <a:ln w="0">
            <a:noFill/>
          </a:ln>
        </p:spPr>
        <p:txBody>
          <a:bodyPr>
            <a:noAutofit/>
          </a:bodyPr>
          <a:lstStyle/>
          <a:p>
            <a:pPr>
              <a:defRPr sz="4800" b="1">
                <a:solidFill>
                  <a:srgbClr val="F4F7FA"/>
                </a:solidFill>
                <a:latin typeface="Arial"/>
                <a:ea typeface="Arial"/>
                <a:cs typeface="Arial"/>
              </a:defRPr>
            </a:pPr>
            <a:r>
              <a:rPr sz="4800" b="1">
                <a:solidFill>
                  <a:srgbClr val="F4F7FA"/>
                </a:solidFill>
                <a:latin typeface="Arial"/>
                <a:ea typeface="Arial"/>
                <a:cs typeface="Arial"/>
              </a:rPr>
              <a:t>Obiđi Jugu</a:t>
            </a:r>
          </a:p>
        </p:txBody>
      </p:sp>
      <p:sp>
        <p:nvSpPr>
          <p:cNvPr id="3" name="Rectangle 2">
            <a:extLst>
              <a:ext uri="{FF2B5EF4-FFF2-40B4-BE49-F238E27FC236}">
                <a16:creationId xmlns:a16="http://schemas.microsoft.com/office/drawing/2014/main" id="{F01EE164-1259-4E39-9AF2-DFA5B20B7FB1}"/>
              </a:ext>
            </a:extLst>
          </p:cNvPr>
          <p:cNvSpPr>
            <a:spLocks noGrp="1"/>
          </p:cNvSpPr>
          <p:nvPr/>
        </p:nvSpPr>
        <p:spPr>
          <a:xfrm>
            <a:off x="533400" y="1619250"/>
            <a:ext cx="5524500" cy="904875"/>
          </a:xfrm>
          <a:prstGeom prst="rect">
            <a:avLst/>
          </a:prstGeom>
          <a:noFill/>
          <a:ln w="0">
            <a:noFill/>
          </a:ln>
        </p:spPr>
        <p:txBody>
          <a:bodyPr>
            <a:noAutofit/>
          </a:bodyPr>
          <a:lstStyle/>
          <a:p>
            <a:pPr>
              <a:defRPr sz="2700" b="0">
                <a:solidFill>
                  <a:srgbClr val="8DD5E6"/>
                </a:solidFill>
                <a:latin typeface="Arial"/>
                <a:ea typeface="Arial"/>
                <a:cs typeface="Arial"/>
              </a:defRPr>
            </a:pPr>
            <a:r>
              <a:rPr sz="2700" b="0">
                <a:solidFill>
                  <a:srgbClr val="8DD5E6"/>
                </a:solidFill>
                <a:latin typeface="Arial"/>
                <a:ea typeface="Arial"/>
                <a:cs typeface="Arial"/>
              </a:rPr>
              <a:t>Interactive Traveling</a:t>
            </a:r>
          </a:p>
          <a:p>
            <a:pPr>
              <a:defRPr sz="2700" b="0">
                <a:solidFill>
                  <a:srgbClr val="8DD5E6"/>
                </a:solidFill>
                <a:latin typeface="Arial"/>
                <a:ea typeface="Arial"/>
                <a:cs typeface="Arial"/>
              </a:defRPr>
            </a:pPr>
            <a:r>
              <a:rPr sz="2700" b="0">
                <a:solidFill>
                  <a:srgbClr val="8DD5E6"/>
                </a:solidFill>
                <a:latin typeface="Arial"/>
                <a:ea typeface="Arial"/>
                <a:cs typeface="Arial"/>
              </a:rPr>
              <a:t>Salesman Problem</a:t>
            </a:r>
          </a:p>
        </p:txBody>
      </p:sp>
      <p:sp>
        <p:nvSpPr>
          <p:cNvPr id="4" name="Rectangle 3">
            <a:extLst>
              <a:ext uri="{FF2B5EF4-FFF2-40B4-BE49-F238E27FC236}">
                <a16:creationId xmlns:a16="http://schemas.microsoft.com/office/drawing/2014/main" id="{014DFED8-81A7-4882-A0CD-64D4A08AC1BA}"/>
              </a:ext>
            </a:extLst>
          </p:cNvPr>
          <p:cNvSpPr>
            <a:spLocks noGrp="1"/>
          </p:cNvSpPr>
          <p:nvPr/>
        </p:nvSpPr>
        <p:spPr>
          <a:xfrm>
            <a:off x="533400" y="3000375"/>
            <a:ext cx="5238750" cy="809625"/>
          </a:xfrm>
          <a:prstGeom prst="rect">
            <a:avLst/>
          </a:prstGeom>
          <a:noFill/>
          <a:ln w="0">
            <a:noFill/>
          </a:ln>
        </p:spPr>
        <p:txBody>
          <a:bodyPr>
            <a:noAutofit/>
          </a:bodyPr>
          <a:lstStyle/>
          <a:p>
            <a:pPr>
              <a:defRPr sz="2175" b="0">
                <a:solidFill>
                  <a:srgbClr val="F4F7FA"/>
                </a:solidFill>
                <a:latin typeface="Arial"/>
                <a:ea typeface="Arial"/>
                <a:cs typeface="Arial"/>
              </a:defRPr>
            </a:pPr>
            <a:r>
              <a:rPr sz="2175" b="0">
                <a:solidFill>
                  <a:srgbClr val="F4F7FA"/>
                </a:solidFill>
                <a:latin typeface="Arial"/>
                <a:ea typeface="Arial"/>
                <a:cs typeface="Arial"/>
              </a:rPr>
              <a:t>Editable cities, connections</a:t>
            </a:r>
          </a:p>
          <a:p>
            <a:pPr>
              <a:defRPr sz="2175" b="0">
                <a:solidFill>
                  <a:srgbClr val="F4F7FA"/>
                </a:solidFill>
                <a:latin typeface="Arial"/>
                <a:ea typeface="Arial"/>
                <a:cs typeface="Arial"/>
              </a:defRPr>
            </a:pPr>
            <a:r>
              <a:rPr sz="2175" b="0">
                <a:solidFill>
                  <a:srgbClr val="F4F7FA"/>
                </a:solidFill>
                <a:latin typeface="Arial"/>
                <a:ea typeface="Arial"/>
                <a:cs typeface="Arial"/>
              </a:rPr>
              <a:t>and required destinations</a:t>
            </a:r>
          </a:p>
        </p:txBody>
      </p:sp>
      <p:sp>
        <p:nvSpPr>
          <p:cNvPr id="5" name="Rectangle 4">
            <a:extLst>
              <a:ext uri="{FF2B5EF4-FFF2-40B4-BE49-F238E27FC236}">
                <a16:creationId xmlns:a16="http://schemas.microsoft.com/office/drawing/2014/main" id="{44444AD4-4F71-44D2-A526-40F2CB18371E}"/>
              </a:ext>
            </a:extLst>
          </p:cNvPr>
          <p:cNvSpPr>
            <a:spLocks noGrp="1"/>
          </p:cNvSpPr>
          <p:nvPr/>
        </p:nvSpPr>
        <p:spPr>
          <a:xfrm>
            <a:off x="533400" y="4048125"/>
            <a:ext cx="5238750" cy="809625"/>
          </a:xfrm>
          <a:prstGeom prst="rect">
            <a:avLst/>
          </a:prstGeom>
          <a:noFill/>
          <a:ln w="0">
            <a:noFill/>
          </a:ln>
        </p:spPr>
        <p:txBody>
          <a:bodyPr>
            <a:noAutofit/>
          </a:bodyPr>
          <a:lstStyle/>
          <a:p>
            <a:pPr>
              <a:defRPr sz="2175" b="0">
                <a:solidFill>
                  <a:srgbClr val="F4F7FA"/>
                </a:solidFill>
                <a:latin typeface="Arial"/>
                <a:ea typeface="Arial"/>
                <a:cs typeface="Arial"/>
              </a:defRPr>
            </a:pPr>
            <a:r>
              <a:rPr sz="2175" b="0">
                <a:solidFill>
                  <a:srgbClr val="F4F7FA"/>
                </a:solidFill>
                <a:latin typeface="Arial"/>
                <a:ea typeface="Arial"/>
                <a:cs typeface="Arial"/>
              </a:rPr>
              <a:t>Goal: a minimum-cost route</a:t>
            </a:r>
          </a:p>
          <a:p>
            <a:pPr>
              <a:defRPr sz="2175" b="0">
                <a:solidFill>
                  <a:srgbClr val="F4F7FA"/>
                </a:solidFill>
                <a:latin typeface="Arial"/>
                <a:ea typeface="Arial"/>
                <a:cs typeface="Arial"/>
              </a:defRPr>
            </a:pPr>
            <a:r>
              <a:rPr sz="2175" b="0">
                <a:solidFill>
                  <a:srgbClr val="F4F7FA"/>
                </a:solidFill>
                <a:latin typeface="Arial"/>
                <a:ea typeface="Arial"/>
                <a:cs typeface="Arial"/>
              </a:rPr>
              <a:t>with weighted cities</a:t>
            </a:r>
          </a:p>
        </p:txBody>
      </p:sp>
      <p:sp>
        <p:nvSpPr>
          <p:cNvPr id="6" name="Rectangle 5">
            <a:extLst>
              <a:ext uri="{FF2B5EF4-FFF2-40B4-BE49-F238E27FC236}">
                <a16:creationId xmlns:a16="http://schemas.microsoft.com/office/drawing/2014/main" id="{B3BF9447-7B55-4DFA-9778-607DFA570E99}"/>
              </a:ext>
            </a:extLst>
          </p:cNvPr>
          <p:cNvSpPr>
            <a:spLocks noGrp="1"/>
          </p:cNvSpPr>
          <p:nvPr/>
        </p:nvSpPr>
        <p:spPr>
          <a:xfrm>
            <a:off x="533400" y="5429250"/>
            <a:ext cx="5238750" cy="619125"/>
          </a:xfrm>
          <a:prstGeom prst="rect">
            <a:avLst/>
          </a:prstGeom>
          <a:noFill/>
          <a:ln w="0">
            <a:noFill/>
          </a:ln>
        </p:spPr>
        <p:txBody>
          <a:bodyPr>
            <a:noAutofit/>
          </a:bodyPr>
          <a:lstStyle/>
          <a:p>
            <a:pPr>
              <a:defRPr sz="1575" b="0">
                <a:solidFill>
                  <a:srgbClr val="B5C4D0"/>
                </a:solidFill>
                <a:latin typeface="Arial"/>
                <a:ea typeface="Arial"/>
                <a:cs typeface="Arial"/>
              </a:defRPr>
            </a:pPr>
            <a:r>
              <a:rPr sz="1575" b="0">
                <a:solidFill>
                  <a:srgbClr val="B5C4D0"/>
                </a:solidFill>
                <a:latin typeface="Arial"/>
                <a:ea typeface="Arial"/>
                <a:cs typeface="Arial"/>
              </a:rPr>
              <a:t>Hadžić, Rodin and Sivro</a:t>
            </a:r>
          </a:p>
          <a:p>
            <a:pPr>
              <a:defRPr sz="1575" b="0">
                <a:solidFill>
                  <a:srgbClr val="B5C4D0"/>
                </a:solidFill>
                <a:latin typeface="Arial"/>
                <a:ea typeface="Arial"/>
                <a:cs typeface="Arial"/>
              </a:defRPr>
            </a:pPr>
            <a:r>
              <a:rPr sz="1575" b="0">
                <a:solidFill>
                  <a:srgbClr val="B5C4D0"/>
                </a:solidFill>
                <a:latin typeface="Arial"/>
                <a:ea typeface="Arial"/>
                <a:cs typeface="Arial"/>
              </a:rPr>
              <a:t>C++ / natID</a:t>
            </a:r>
          </a:p>
        </p:txBody>
      </p:sp>
      <p:pic>
        <p:nvPicPr>
          <p:cNvPr id="14" name="Picture 13"/>
          <p:cNvPicPr>
            <a:picLocks noChangeAspect="1"/>
          </p:cNvPicPr>
          <p:nvPr/>
        </p:nvPicPr>
        <p:blipFill>
          <a:blip r:embed="rId3"/>
          <a:stretch/>
        </p:blipFill>
        <p:spPr>
          <a:xfrm>
            <a:off x="6305724" y="457200"/>
            <a:ext cx="5352702" cy="5791200"/>
          </a:xfrm>
          <a:prstGeom prst="rect">
            <a:avLst/>
          </a:prstGeom>
        </p:spPr>
      </p:pic>
    </p:spTree>
    <p:extLst>
      <p:ext uri="{BB962C8B-B14F-4D97-AF65-F5344CB8AC3E}">
        <p14:creationId xmlns:p14="http://schemas.microsoft.com/office/powerpoint/2010/main" val="505147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3222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77705B8-74D9-4792-AB02-2BB6F6708F4A}"/>
              </a:ext>
            </a:extLst>
          </p:cNvPr>
          <p:cNvSpPr>
            <a:spLocks noGrp="1"/>
          </p:cNvSpPr>
          <p:nvPr/>
        </p:nvSpPr>
        <p:spPr>
          <a:xfrm>
            <a:off x="533400" y="6381750"/>
            <a:ext cx="6667500" cy="238125"/>
          </a:xfrm>
          <a:prstGeom prst="rect">
            <a:avLst/>
          </a:prstGeom>
          <a:noFill/>
          <a:ln w="0">
            <a:noFill/>
          </a:ln>
        </p:spPr>
        <p:txBody>
          <a:bodyPr>
            <a:noAutofit/>
          </a:bodyPr>
          <a:lstStyle/>
          <a:p>
            <a:pPr>
              <a:defRPr sz="1200" b="0">
                <a:solidFill>
                  <a:srgbClr val="B5C4D0"/>
                </a:solidFill>
                <a:latin typeface="Arial"/>
                <a:ea typeface="Arial"/>
                <a:cs typeface="Arial"/>
              </a:defRPr>
            </a:pPr>
            <a:r>
              <a:rPr sz="1200" b="0">
                <a:solidFill>
                  <a:srgbClr val="B5C4D0"/>
                </a:solidFill>
                <a:latin typeface="Arial"/>
                <a:ea typeface="Arial"/>
                <a:cs typeface="Arial"/>
              </a:rPr>
              <a:t>OBIĐI JUGU     2/3</a:t>
            </a:r>
          </a:p>
        </p:txBody>
      </p:sp>
      <p:sp>
        <p:nvSpPr>
          <p:cNvPr id="2" name="Rectangle 1">
            <a:extLst>
              <a:ext uri="{FF2B5EF4-FFF2-40B4-BE49-F238E27FC236}">
                <a16:creationId xmlns:a16="http://schemas.microsoft.com/office/drawing/2014/main" id="{2B703B16-A0C8-449D-A983-FDD70D236EA2}"/>
              </a:ext>
            </a:extLst>
          </p:cNvPr>
          <p:cNvSpPr>
            <a:spLocks noGrp="1"/>
          </p:cNvSpPr>
          <p:nvPr/>
        </p:nvSpPr>
        <p:spPr>
          <a:xfrm>
            <a:off x="533400" y="523875"/>
            <a:ext cx="11125200" cy="666750"/>
          </a:xfrm>
          <a:prstGeom prst="rect">
            <a:avLst/>
          </a:prstGeom>
          <a:noFill/>
          <a:ln w="0">
            <a:noFill/>
          </a:ln>
        </p:spPr>
        <p:txBody>
          <a:bodyPr>
            <a:noAutofit/>
          </a:bodyPr>
          <a:lstStyle/>
          <a:p>
            <a:pPr>
              <a:defRPr sz="3450" b="1">
                <a:solidFill>
                  <a:srgbClr val="F4F7FA"/>
                </a:solidFill>
                <a:latin typeface="Arial"/>
                <a:ea typeface="Arial"/>
                <a:cs typeface="Arial"/>
              </a:defRPr>
            </a:pPr>
            <a:r>
              <a:rPr sz="3450" b="1">
                <a:solidFill>
                  <a:srgbClr val="F4F7FA"/>
                </a:solidFill>
                <a:latin typeface="Arial"/>
                <a:ea typeface="Arial"/>
                <a:cs typeface="Arial"/>
              </a:rPr>
              <a:t>Algorithms and comparison</a:t>
            </a:r>
          </a:p>
        </p:txBody>
      </p:sp>
      <p:sp>
        <p:nvSpPr>
          <p:cNvPr id="3" name="Rectangle 2">
            <a:extLst>
              <a:ext uri="{FF2B5EF4-FFF2-40B4-BE49-F238E27FC236}">
                <a16:creationId xmlns:a16="http://schemas.microsoft.com/office/drawing/2014/main" id="{37901A32-036E-477A-BE12-08666FC85F08}"/>
              </a:ext>
            </a:extLst>
          </p:cNvPr>
          <p:cNvSpPr>
            <a:spLocks noGrp="1"/>
          </p:cNvSpPr>
          <p:nvPr/>
        </p:nvSpPr>
        <p:spPr>
          <a:xfrm>
            <a:off x="533400" y="1619250"/>
            <a:ext cx="4953000" cy="428625"/>
          </a:xfrm>
          <a:prstGeom prst="rect">
            <a:avLst/>
          </a:prstGeom>
          <a:noFill/>
          <a:ln w="0">
            <a:noFill/>
          </a:ln>
        </p:spPr>
        <p:txBody>
          <a:bodyPr>
            <a:noAutofit/>
          </a:bodyPr>
          <a:lstStyle/>
          <a:p>
            <a:pPr>
              <a:defRPr sz="2325" b="1">
                <a:solidFill>
                  <a:srgbClr val="8DD5E6"/>
                </a:solidFill>
                <a:latin typeface="Arial"/>
                <a:ea typeface="Arial"/>
                <a:cs typeface="Arial"/>
              </a:defRPr>
            </a:pPr>
            <a:r>
              <a:rPr sz="2325" b="1">
                <a:solidFill>
                  <a:srgbClr val="8DD5E6"/>
                </a:solidFill>
                <a:latin typeface="Arial"/>
                <a:ea typeface="Arial"/>
                <a:cs typeface="Arial"/>
              </a:rPr>
              <a:t>Route search</a:t>
            </a:r>
          </a:p>
        </p:txBody>
      </p:sp>
      <p:sp>
        <p:nvSpPr>
          <p:cNvPr id="4" name="Rectangle 3">
            <a:extLst>
              <a:ext uri="{FF2B5EF4-FFF2-40B4-BE49-F238E27FC236}">
                <a16:creationId xmlns:a16="http://schemas.microsoft.com/office/drawing/2014/main" id="{19A431C1-F152-4056-BF55-8892AB8112A3}"/>
              </a:ext>
            </a:extLst>
          </p:cNvPr>
          <p:cNvSpPr>
            <a:spLocks noGrp="1"/>
          </p:cNvSpPr>
          <p:nvPr/>
        </p:nvSpPr>
        <p:spPr>
          <a:xfrm>
            <a:off x="533400" y="2266950"/>
            <a:ext cx="5238750" cy="476250"/>
          </a:xfrm>
          <a:prstGeom prst="rect">
            <a:avLst/>
          </a:prstGeom>
          <a:noFill/>
          <a:ln w="0">
            <a:noFill/>
          </a:ln>
        </p:spPr>
        <p:txBody>
          <a:bodyPr>
            <a:noAutofit/>
          </a:bodyPr>
          <a:lstStyle/>
          <a:p>
            <a:pPr>
              <a:defRPr sz="2250" b="0">
                <a:solidFill>
                  <a:srgbClr val="F4F7FA"/>
                </a:solidFill>
                <a:latin typeface="Arial"/>
                <a:ea typeface="Arial"/>
                <a:cs typeface="Arial"/>
              </a:defRPr>
            </a:pPr>
            <a:r>
              <a:rPr sz="2250" b="0">
                <a:solidFill>
                  <a:srgbClr val="F4F7FA"/>
                </a:solidFill>
                <a:latin typeface="Arial"/>
                <a:ea typeface="Arial"/>
                <a:cs typeface="Arial"/>
              </a:rPr>
              <a:t>Nearest Neighbor + 2-opt</a:t>
            </a:r>
          </a:p>
        </p:txBody>
      </p:sp>
      <p:sp>
        <p:nvSpPr>
          <p:cNvPr id="5" name="Rectangle 4">
            <a:extLst>
              <a:ext uri="{FF2B5EF4-FFF2-40B4-BE49-F238E27FC236}">
                <a16:creationId xmlns:a16="http://schemas.microsoft.com/office/drawing/2014/main" id="{0A46BD09-E897-455D-8775-D37BC04DBE28}"/>
              </a:ext>
            </a:extLst>
          </p:cNvPr>
          <p:cNvSpPr>
            <a:spLocks noGrp="1"/>
          </p:cNvSpPr>
          <p:nvPr/>
        </p:nvSpPr>
        <p:spPr>
          <a:xfrm>
            <a:off x="533400" y="2952750"/>
            <a:ext cx="5238750" cy="476250"/>
          </a:xfrm>
          <a:prstGeom prst="rect">
            <a:avLst/>
          </a:prstGeom>
          <a:noFill/>
          <a:ln w="0">
            <a:noFill/>
          </a:ln>
        </p:spPr>
        <p:txBody>
          <a:bodyPr>
            <a:noAutofit/>
          </a:bodyPr>
          <a:lstStyle/>
          <a:p>
            <a:pPr>
              <a:defRPr sz="2250" b="0">
                <a:solidFill>
                  <a:srgbClr val="F4F7FA"/>
                </a:solidFill>
                <a:latin typeface="Arial"/>
                <a:ea typeface="Arial"/>
                <a:cs typeface="Arial"/>
              </a:defRPr>
            </a:pPr>
            <a:r>
              <a:rPr sz="2250" b="0">
                <a:solidFill>
                  <a:srgbClr val="F4F7FA"/>
                </a:solidFill>
                <a:latin typeface="Arial"/>
                <a:ea typeface="Arial"/>
                <a:cs typeface="Arial"/>
              </a:rPr>
              <a:t>Simulated Annealing</a:t>
            </a:r>
          </a:p>
        </p:txBody>
      </p:sp>
      <p:sp>
        <p:nvSpPr>
          <p:cNvPr id="6" name="Rectangle 5">
            <a:extLst>
              <a:ext uri="{FF2B5EF4-FFF2-40B4-BE49-F238E27FC236}">
                <a16:creationId xmlns:a16="http://schemas.microsoft.com/office/drawing/2014/main" id="{D81E5DBC-8C9A-4CFF-ACB4-7EADE0EDDD26}"/>
              </a:ext>
            </a:extLst>
          </p:cNvPr>
          <p:cNvSpPr>
            <a:spLocks noGrp="1"/>
          </p:cNvSpPr>
          <p:nvPr/>
        </p:nvSpPr>
        <p:spPr>
          <a:xfrm>
            <a:off x="533400" y="3638550"/>
            <a:ext cx="5238750" cy="476250"/>
          </a:xfrm>
          <a:prstGeom prst="rect">
            <a:avLst/>
          </a:prstGeom>
          <a:noFill/>
          <a:ln w="0">
            <a:noFill/>
          </a:ln>
        </p:spPr>
        <p:txBody>
          <a:bodyPr>
            <a:noAutofit/>
          </a:bodyPr>
          <a:lstStyle/>
          <a:p>
            <a:pPr>
              <a:defRPr sz="2250" b="0">
                <a:solidFill>
                  <a:srgbClr val="F4F7FA"/>
                </a:solidFill>
                <a:latin typeface="Arial"/>
                <a:ea typeface="Arial"/>
                <a:cs typeface="Arial"/>
              </a:defRPr>
            </a:pPr>
            <a:r>
              <a:rPr sz="2250" b="0">
                <a:solidFill>
                  <a:srgbClr val="F4F7FA"/>
                </a:solidFill>
                <a:latin typeface="Arial"/>
                <a:ea typeface="Arial"/>
                <a:cs typeface="Arial"/>
              </a:rPr>
              <a:t>Genetic Algorithm</a:t>
            </a:r>
          </a:p>
        </p:txBody>
      </p:sp>
      <p:sp>
        <p:nvSpPr>
          <p:cNvPr id="7" name="Rectangle 6">
            <a:extLst>
              <a:ext uri="{FF2B5EF4-FFF2-40B4-BE49-F238E27FC236}">
                <a16:creationId xmlns:a16="http://schemas.microsoft.com/office/drawing/2014/main" id="{665BBC76-EB19-407B-8EE2-391DD517EBB7}"/>
              </a:ext>
            </a:extLst>
          </p:cNvPr>
          <p:cNvSpPr>
            <a:spLocks noGrp="1"/>
          </p:cNvSpPr>
          <p:nvPr/>
        </p:nvSpPr>
        <p:spPr>
          <a:xfrm>
            <a:off x="533400" y="4324350"/>
            <a:ext cx="5238750" cy="476250"/>
          </a:xfrm>
          <a:prstGeom prst="rect">
            <a:avLst/>
          </a:prstGeom>
          <a:noFill/>
          <a:ln w="0">
            <a:noFill/>
          </a:ln>
        </p:spPr>
        <p:txBody>
          <a:bodyPr>
            <a:noAutofit/>
          </a:bodyPr>
          <a:lstStyle/>
          <a:p>
            <a:pPr>
              <a:defRPr sz="2250" b="0">
                <a:solidFill>
                  <a:srgbClr val="F4F7FA"/>
                </a:solidFill>
                <a:latin typeface="Arial"/>
                <a:ea typeface="Arial"/>
                <a:cs typeface="Arial"/>
              </a:defRPr>
            </a:pPr>
            <a:r>
              <a:rPr sz="2250" b="0">
                <a:solidFill>
                  <a:srgbClr val="F4F7FA"/>
                </a:solidFill>
                <a:latin typeface="Arial"/>
                <a:ea typeface="Arial"/>
                <a:cs typeface="Arial"/>
              </a:rPr>
              <a:t>Exact TSP</a:t>
            </a:r>
          </a:p>
        </p:txBody>
      </p:sp>
      <p:sp>
        <p:nvSpPr>
          <p:cNvPr id="8" name="Rectangle 7">
            <a:extLst>
              <a:ext uri="{FF2B5EF4-FFF2-40B4-BE49-F238E27FC236}">
                <a16:creationId xmlns:a16="http://schemas.microsoft.com/office/drawing/2014/main" id="{F4918D9F-5663-46F3-AE83-AD951F6CB472}"/>
              </a:ext>
            </a:extLst>
          </p:cNvPr>
          <p:cNvSpPr>
            <a:spLocks noGrp="1"/>
          </p:cNvSpPr>
          <p:nvPr/>
        </p:nvSpPr>
        <p:spPr>
          <a:xfrm>
            <a:off x="6572250" y="1619250"/>
            <a:ext cx="5143500" cy="428625"/>
          </a:xfrm>
          <a:prstGeom prst="rect">
            <a:avLst/>
          </a:prstGeom>
          <a:noFill/>
          <a:ln w="0">
            <a:noFill/>
          </a:ln>
        </p:spPr>
        <p:txBody>
          <a:bodyPr>
            <a:noAutofit/>
          </a:bodyPr>
          <a:lstStyle/>
          <a:p>
            <a:pPr>
              <a:defRPr sz="2325" b="1">
                <a:solidFill>
                  <a:srgbClr val="8DD5E6"/>
                </a:solidFill>
                <a:latin typeface="Arial"/>
                <a:ea typeface="Arial"/>
                <a:cs typeface="Arial"/>
              </a:defRPr>
            </a:pPr>
            <a:r>
              <a:rPr sz="2325" b="1">
                <a:solidFill>
                  <a:srgbClr val="8DD5E6"/>
                </a:solidFill>
                <a:latin typeface="Arial"/>
                <a:ea typeface="Arial"/>
                <a:cs typeface="Arial"/>
              </a:rPr>
              <a:t>Automatic benchmark</a:t>
            </a:r>
          </a:p>
        </p:txBody>
      </p:sp>
      <p:sp>
        <p:nvSpPr>
          <p:cNvPr id="9" name="Rectangle 8">
            <a:extLst>
              <a:ext uri="{FF2B5EF4-FFF2-40B4-BE49-F238E27FC236}">
                <a16:creationId xmlns:a16="http://schemas.microsoft.com/office/drawing/2014/main" id="{7FD7EDF5-424F-4CBC-9FA0-052047E79CF7}"/>
              </a:ext>
            </a:extLst>
          </p:cNvPr>
          <p:cNvSpPr>
            <a:spLocks noGrp="1"/>
          </p:cNvSpPr>
          <p:nvPr/>
        </p:nvSpPr>
        <p:spPr>
          <a:xfrm>
            <a:off x="6572250" y="2266950"/>
            <a:ext cx="5048250" cy="400050"/>
          </a:xfrm>
          <a:prstGeom prst="rect">
            <a:avLst/>
          </a:prstGeom>
          <a:noFill/>
          <a:ln w="0">
            <a:noFill/>
          </a:ln>
        </p:spPr>
        <p:txBody>
          <a:bodyPr>
            <a:noAutofit/>
          </a:bodyPr>
          <a:lstStyle/>
          <a:p>
            <a:pPr>
              <a:defRPr sz="2025" b="1">
                <a:solidFill>
                  <a:srgbClr val="F4F7FA"/>
                </a:solidFill>
                <a:latin typeface="Arial"/>
                <a:ea typeface="Arial"/>
                <a:cs typeface="Arial"/>
              </a:defRPr>
            </a:pPr>
            <a:r>
              <a:rPr sz="2025" b="1">
                <a:solidFill>
                  <a:srgbClr val="F4F7FA"/>
                </a:solidFill>
                <a:latin typeface="Arial"/>
                <a:ea typeface="Arial"/>
                <a:cs typeface="Arial"/>
              </a:rPr>
              <a:t>Up to 10 required cities</a:t>
            </a:r>
          </a:p>
        </p:txBody>
      </p:sp>
      <p:sp>
        <p:nvSpPr>
          <p:cNvPr id="10" name="Rectangle 9">
            <a:extLst>
              <a:ext uri="{FF2B5EF4-FFF2-40B4-BE49-F238E27FC236}">
                <a16:creationId xmlns:a16="http://schemas.microsoft.com/office/drawing/2014/main" id="{62D6FF81-C04D-408C-BDBB-A4C496658FD2}"/>
              </a:ext>
            </a:extLst>
          </p:cNvPr>
          <p:cNvSpPr>
            <a:spLocks noGrp="1"/>
          </p:cNvSpPr>
          <p:nvPr/>
        </p:nvSpPr>
        <p:spPr>
          <a:xfrm>
            <a:off x="6572250" y="2667000"/>
            <a:ext cx="5048250" cy="438150"/>
          </a:xfrm>
          <a:prstGeom prst="rect">
            <a:avLst/>
          </a:prstGeom>
          <a:noFill/>
          <a:ln w="0">
            <a:noFill/>
          </a:ln>
        </p:spPr>
        <p:txBody>
          <a:bodyPr>
            <a:noAutofit/>
          </a:bodyPr>
          <a:lstStyle/>
          <a:p>
            <a:pPr>
              <a:defRPr sz="1875" b="0">
                <a:solidFill>
                  <a:srgbClr val="B5C4D0"/>
                </a:solidFill>
                <a:latin typeface="Arial"/>
                <a:ea typeface="Arial"/>
                <a:cs typeface="Arial"/>
              </a:defRPr>
            </a:pPr>
            <a:r>
              <a:rPr sz="1875" b="0">
                <a:solidFill>
                  <a:srgbClr val="B5C4D0"/>
                </a:solidFill>
                <a:latin typeface="Arial"/>
                <a:ea typeface="Arial"/>
                <a:cs typeface="Arial"/>
              </a:rPr>
              <a:t>Exact TSP: proven optimum</a:t>
            </a:r>
          </a:p>
        </p:txBody>
      </p:sp>
      <p:sp>
        <p:nvSpPr>
          <p:cNvPr id="11" name="Rectangle 10">
            <a:extLst>
              <a:ext uri="{FF2B5EF4-FFF2-40B4-BE49-F238E27FC236}">
                <a16:creationId xmlns:a16="http://schemas.microsoft.com/office/drawing/2014/main" id="{D64C6D59-582C-4C2A-B14E-D465A8B9D3F9}"/>
              </a:ext>
            </a:extLst>
          </p:cNvPr>
          <p:cNvSpPr>
            <a:spLocks noGrp="1"/>
          </p:cNvSpPr>
          <p:nvPr/>
        </p:nvSpPr>
        <p:spPr>
          <a:xfrm>
            <a:off x="6572250" y="3390900"/>
            <a:ext cx="5048250" cy="400050"/>
          </a:xfrm>
          <a:prstGeom prst="rect">
            <a:avLst/>
          </a:prstGeom>
          <a:noFill/>
          <a:ln w="0">
            <a:noFill/>
          </a:ln>
        </p:spPr>
        <p:txBody>
          <a:bodyPr>
            <a:noAutofit/>
          </a:bodyPr>
          <a:lstStyle/>
          <a:p>
            <a:pPr>
              <a:defRPr sz="2025" b="1">
                <a:solidFill>
                  <a:srgbClr val="F4F7FA"/>
                </a:solidFill>
                <a:latin typeface="Arial"/>
                <a:ea typeface="Arial"/>
                <a:cs typeface="Arial"/>
              </a:defRPr>
            </a:pPr>
            <a:r>
              <a:rPr sz="2025" b="1">
                <a:solidFill>
                  <a:srgbClr val="F4F7FA"/>
                </a:solidFill>
                <a:latin typeface="Arial"/>
                <a:ea typeface="Arial"/>
                <a:cs typeface="Arial"/>
              </a:rPr>
              <a:t>More than 10 required cities</a:t>
            </a:r>
          </a:p>
        </p:txBody>
      </p:sp>
      <p:sp>
        <p:nvSpPr>
          <p:cNvPr id="12" name="Rectangle 11">
            <a:extLst>
              <a:ext uri="{FF2B5EF4-FFF2-40B4-BE49-F238E27FC236}">
                <a16:creationId xmlns:a16="http://schemas.microsoft.com/office/drawing/2014/main" id="{E907D59E-8B02-4635-AA47-A4011292D19F}"/>
              </a:ext>
            </a:extLst>
          </p:cNvPr>
          <p:cNvSpPr>
            <a:spLocks noGrp="1"/>
          </p:cNvSpPr>
          <p:nvPr/>
        </p:nvSpPr>
        <p:spPr>
          <a:xfrm>
            <a:off x="6572250" y="3790950"/>
            <a:ext cx="5048250" cy="552450"/>
          </a:xfrm>
          <a:prstGeom prst="rect">
            <a:avLst/>
          </a:prstGeom>
          <a:noFill/>
          <a:ln w="0">
            <a:noFill/>
          </a:ln>
        </p:spPr>
        <p:txBody>
          <a:bodyPr>
            <a:noAutofit/>
          </a:bodyPr>
          <a:lstStyle/>
          <a:p>
            <a:pPr>
              <a:defRPr sz="1875" b="0">
                <a:solidFill>
                  <a:srgbClr val="B5C4D0"/>
                </a:solidFill>
                <a:latin typeface="Arial"/>
                <a:ea typeface="Arial"/>
                <a:cs typeface="Arial"/>
              </a:defRPr>
            </a:pPr>
            <a:r>
              <a:rPr sz="1875" b="0">
                <a:solidFill>
                  <a:srgbClr val="B5C4D0"/>
                </a:solidFill>
                <a:latin typeface="Arial"/>
                <a:ea typeface="Arial"/>
                <a:cs typeface="Arial"/>
              </a:rPr>
              <a:t>NN + 2-opt: heuristic reference</a:t>
            </a:r>
          </a:p>
        </p:txBody>
      </p:sp>
      <p:sp>
        <p:nvSpPr>
          <p:cNvPr id="13" name="Rectangle 12">
            <a:extLst>
              <a:ext uri="{FF2B5EF4-FFF2-40B4-BE49-F238E27FC236}">
                <a16:creationId xmlns:a16="http://schemas.microsoft.com/office/drawing/2014/main" id="{2DDB0617-7AB6-4309-8062-E13628F56666}"/>
              </a:ext>
            </a:extLst>
          </p:cNvPr>
          <p:cNvSpPr>
            <a:spLocks noGrp="1"/>
          </p:cNvSpPr>
          <p:nvPr/>
        </p:nvSpPr>
        <p:spPr>
          <a:xfrm>
            <a:off x="533400" y="5372100"/>
            <a:ext cx="11125200" cy="523875"/>
          </a:xfrm>
          <a:prstGeom prst="rect">
            <a:avLst/>
          </a:prstGeom>
          <a:noFill/>
          <a:ln w="0">
            <a:noFill/>
          </a:ln>
        </p:spPr>
        <p:txBody>
          <a:bodyPr>
            <a:noAutofit/>
          </a:bodyPr>
          <a:lstStyle/>
          <a:p>
            <a:pPr>
              <a:defRPr sz="2400" b="0">
                <a:solidFill>
                  <a:srgbClr val="8DD5E6"/>
                </a:solidFill>
                <a:latin typeface="Arial"/>
                <a:ea typeface="Arial"/>
                <a:cs typeface="Arial"/>
              </a:defRPr>
            </a:pPr>
            <a:r>
              <a:rPr sz="2400" b="0">
                <a:solidFill>
                  <a:srgbClr val="8DD5E6"/>
                </a:solidFill>
                <a:latin typeface="Arial"/>
                <a:ea typeface="Arial"/>
                <a:cs typeface="Arial"/>
              </a:rPr>
              <a:t>Δ = route cost − benchmark cost</a:t>
            </a:r>
          </a:p>
        </p:txBody>
      </p:sp>
    </p:spTree>
    <p:extLst>
      <p:ext uri="{BB962C8B-B14F-4D97-AF65-F5344CB8AC3E}">
        <p14:creationId xmlns:p14="http://schemas.microsoft.com/office/powerpoint/2010/main" val="1396195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3222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AFF5898-8019-41AF-BCF0-57A71DA70258}"/>
              </a:ext>
            </a:extLst>
          </p:cNvPr>
          <p:cNvSpPr>
            <a:spLocks noGrp="1"/>
          </p:cNvSpPr>
          <p:nvPr/>
        </p:nvSpPr>
        <p:spPr>
          <a:xfrm>
            <a:off x="533400" y="6381750"/>
            <a:ext cx="6667500" cy="238125"/>
          </a:xfrm>
          <a:prstGeom prst="rect">
            <a:avLst/>
          </a:prstGeom>
          <a:noFill/>
          <a:ln w="0">
            <a:noFill/>
          </a:ln>
        </p:spPr>
        <p:txBody>
          <a:bodyPr>
            <a:noAutofit/>
          </a:bodyPr>
          <a:lstStyle/>
          <a:p>
            <a:pPr>
              <a:defRPr sz="1200" b="0">
                <a:solidFill>
                  <a:srgbClr val="B5C4D0"/>
                </a:solidFill>
                <a:latin typeface="Arial"/>
                <a:ea typeface="Arial"/>
                <a:cs typeface="Arial"/>
              </a:defRPr>
            </a:pPr>
            <a:r>
              <a:rPr sz="1200" b="0">
                <a:solidFill>
                  <a:srgbClr val="B5C4D0"/>
                </a:solidFill>
                <a:latin typeface="Arial"/>
                <a:ea typeface="Arial"/>
                <a:cs typeface="Arial"/>
              </a:rPr>
              <a:t>OBIĐI JUGU     3/3</a:t>
            </a:r>
          </a:p>
        </p:txBody>
      </p:sp>
      <p:sp>
        <p:nvSpPr>
          <p:cNvPr id="2" name="Rectangle 1">
            <a:extLst>
              <a:ext uri="{FF2B5EF4-FFF2-40B4-BE49-F238E27FC236}">
                <a16:creationId xmlns:a16="http://schemas.microsoft.com/office/drawing/2014/main" id="{2EBD4AD9-A986-44CD-B068-5C236F325EC5}"/>
              </a:ext>
            </a:extLst>
          </p:cNvPr>
          <p:cNvSpPr>
            <a:spLocks noGrp="1"/>
          </p:cNvSpPr>
          <p:nvPr/>
        </p:nvSpPr>
        <p:spPr>
          <a:xfrm>
            <a:off x="533400" y="523875"/>
            <a:ext cx="11125200" cy="666750"/>
          </a:xfrm>
          <a:prstGeom prst="rect">
            <a:avLst/>
          </a:prstGeom>
          <a:noFill/>
          <a:ln w="0">
            <a:noFill/>
          </a:ln>
        </p:spPr>
        <p:txBody>
          <a:bodyPr>
            <a:noAutofit/>
          </a:bodyPr>
          <a:lstStyle/>
          <a:p>
            <a:pPr>
              <a:defRPr sz="3450" b="1">
                <a:solidFill>
                  <a:srgbClr val="F4F7FA"/>
                </a:solidFill>
                <a:latin typeface="Arial"/>
                <a:ea typeface="Arial"/>
                <a:cs typeface="Arial"/>
              </a:defRPr>
            </a:pPr>
            <a:r>
              <a:rPr sz="3450" b="1">
                <a:solidFill>
                  <a:srgbClr val="F4F7FA"/>
                </a:solidFill>
                <a:latin typeface="Arial"/>
                <a:ea typeface="Arial"/>
                <a:cs typeface="Arial"/>
              </a:rPr>
              <a:t>Interactivity and performance</a:t>
            </a:r>
          </a:p>
        </p:txBody>
      </p:sp>
      <p:sp>
        <p:nvSpPr>
          <p:cNvPr id="3" name="Rectangle 2">
            <a:extLst>
              <a:ext uri="{FF2B5EF4-FFF2-40B4-BE49-F238E27FC236}">
                <a16:creationId xmlns:a16="http://schemas.microsoft.com/office/drawing/2014/main" id="{CF2AC069-1319-480B-B428-18A8193F78F8}"/>
              </a:ext>
            </a:extLst>
          </p:cNvPr>
          <p:cNvSpPr>
            <a:spLocks noGrp="1"/>
          </p:cNvSpPr>
          <p:nvPr/>
        </p:nvSpPr>
        <p:spPr>
          <a:xfrm>
            <a:off x="533400" y="1657350"/>
            <a:ext cx="5238750" cy="419100"/>
          </a:xfrm>
          <a:prstGeom prst="rect">
            <a:avLst/>
          </a:prstGeom>
          <a:noFill/>
          <a:ln w="0">
            <a:noFill/>
          </a:ln>
        </p:spPr>
        <p:txBody>
          <a:bodyPr>
            <a:noAutofit/>
          </a:bodyPr>
          <a:lstStyle/>
          <a:p>
            <a:pPr>
              <a:defRPr sz="2175" b="1">
                <a:solidFill>
                  <a:srgbClr val="8DD5E6"/>
                </a:solidFill>
                <a:latin typeface="Arial"/>
                <a:ea typeface="Arial"/>
                <a:cs typeface="Arial"/>
              </a:defRPr>
            </a:pPr>
            <a:r>
              <a:rPr sz="2175" b="1">
                <a:solidFill>
                  <a:srgbClr val="8DD5E6"/>
                </a:solidFill>
                <a:latin typeface="Arial"/>
                <a:ea typeface="Arial"/>
                <a:cs typeface="Arial"/>
              </a:rPr>
              <a:t>Editing and route review</a:t>
            </a:r>
          </a:p>
        </p:txBody>
      </p:sp>
      <p:sp>
        <p:nvSpPr>
          <p:cNvPr id="4" name="Rectangle 3">
            <a:extLst>
              <a:ext uri="{FF2B5EF4-FFF2-40B4-BE49-F238E27FC236}">
                <a16:creationId xmlns:a16="http://schemas.microsoft.com/office/drawing/2014/main" id="{BE3B36AA-975C-413A-81CA-8CD0EDAA7C7D}"/>
              </a:ext>
            </a:extLst>
          </p:cNvPr>
          <p:cNvSpPr>
            <a:spLocks noGrp="1"/>
          </p:cNvSpPr>
          <p:nvPr/>
        </p:nvSpPr>
        <p:spPr>
          <a:xfrm>
            <a:off x="533400" y="2114550"/>
            <a:ext cx="5238750" cy="781050"/>
          </a:xfrm>
          <a:prstGeom prst="rect">
            <a:avLst/>
          </a:prstGeom>
          <a:noFill/>
          <a:ln w="0">
            <a:noFill/>
          </a:ln>
        </p:spPr>
        <p:txBody>
          <a:bodyPr>
            <a:noAutofit/>
          </a:bodyPr>
          <a:lstStyle/>
          <a:p>
            <a:pPr>
              <a:defRPr sz="1950" b="0">
                <a:solidFill>
                  <a:srgbClr val="F4F7FA"/>
                </a:solidFill>
                <a:latin typeface="Arial"/>
                <a:ea typeface="Arial"/>
                <a:cs typeface="Arial"/>
              </a:defRPr>
            </a:pPr>
            <a:r>
              <a:rPr sz="1950" b="0">
                <a:solidFill>
                  <a:srgbClr val="F4F7FA"/>
                </a:solidFill>
                <a:latin typeface="Arial"/>
                <a:ea typeface="Arial"/>
                <a:cs typeface="Arial"/>
              </a:rPr>
              <a:t>City table, Replay and translations</a:t>
            </a:r>
          </a:p>
          <a:p>
            <a:pPr>
              <a:defRPr sz="1950" b="0">
                <a:solidFill>
                  <a:srgbClr val="F4F7FA"/>
                </a:solidFill>
                <a:latin typeface="Arial"/>
                <a:ea typeface="Arial"/>
                <a:cs typeface="Arial"/>
              </a:defRPr>
            </a:pPr>
            <a:r>
              <a:rPr sz="1950" b="0">
                <a:solidFill>
                  <a:srgbClr val="F4F7FA"/>
                </a:solidFill>
                <a:latin typeface="Arial"/>
                <a:ea typeface="Arial"/>
                <a:cs typeface="Arial"/>
              </a:rPr>
              <a:t>Optional map and city labels</a:t>
            </a:r>
          </a:p>
        </p:txBody>
      </p:sp>
      <p:sp>
        <p:nvSpPr>
          <p:cNvPr id="5" name="Rectangle 4">
            <a:extLst>
              <a:ext uri="{FF2B5EF4-FFF2-40B4-BE49-F238E27FC236}">
                <a16:creationId xmlns:a16="http://schemas.microsoft.com/office/drawing/2014/main" id="{CFC4E8C0-00DF-4C88-9102-FE7B94CFEA2A}"/>
              </a:ext>
            </a:extLst>
          </p:cNvPr>
          <p:cNvSpPr>
            <a:spLocks noGrp="1"/>
          </p:cNvSpPr>
          <p:nvPr/>
        </p:nvSpPr>
        <p:spPr>
          <a:xfrm>
            <a:off x="533400" y="3267075"/>
            <a:ext cx="5476875" cy="419100"/>
          </a:xfrm>
          <a:prstGeom prst="rect">
            <a:avLst/>
          </a:prstGeom>
          <a:noFill/>
          <a:ln w="0">
            <a:noFill/>
          </a:ln>
        </p:spPr>
        <p:txBody>
          <a:bodyPr>
            <a:noAutofit/>
          </a:bodyPr>
          <a:lstStyle/>
          <a:p>
            <a:pPr>
              <a:defRPr sz="2175" b="1">
                <a:solidFill>
                  <a:srgbClr val="8DD5E6"/>
                </a:solidFill>
                <a:latin typeface="Arial"/>
                <a:ea typeface="Arial"/>
                <a:cs typeface="Arial"/>
              </a:defRPr>
            </a:pPr>
            <a:r>
              <a:rPr sz="2175" b="1">
                <a:solidFill>
                  <a:srgbClr val="8DD5E6"/>
                </a:solidFill>
                <a:latin typeface="Arial"/>
                <a:ea typeface="Arial"/>
                <a:cs typeface="Arial"/>
              </a:rPr>
              <a:t>Non-blocking computation</a:t>
            </a:r>
          </a:p>
        </p:txBody>
      </p:sp>
      <p:sp>
        <p:nvSpPr>
          <p:cNvPr id="6" name="Rectangle 5">
            <a:extLst>
              <a:ext uri="{FF2B5EF4-FFF2-40B4-BE49-F238E27FC236}">
                <a16:creationId xmlns:a16="http://schemas.microsoft.com/office/drawing/2014/main" id="{83182E28-17D6-4E4F-BB50-81AB81C033E4}"/>
              </a:ext>
            </a:extLst>
          </p:cNvPr>
          <p:cNvSpPr>
            <a:spLocks noGrp="1"/>
          </p:cNvSpPr>
          <p:nvPr/>
        </p:nvSpPr>
        <p:spPr>
          <a:xfrm>
            <a:off x="533400" y="3724275"/>
            <a:ext cx="5238750" cy="781050"/>
          </a:xfrm>
          <a:prstGeom prst="rect">
            <a:avLst/>
          </a:prstGeom>
          <a:noFill/>
          <a:ln w="0">
            <a:noFill/>
          </a:ln>
        </p:spPr>
        <p:txBody>
          <a:bodyPr>
            <a:noAutofit/>
          </a:bodyPr>
          <a:lstStyle/>
          <a:p>
            <a:pPr>
              <a:defRPr sz="1950" b="0">
                <a:solidFill>
                  <a:srgbClr val="F4F7FA"/>
                </a:solidFill>
                <a:latin typeface="Arial"/>
                <a:ea typeface="Arial"/>
                <a:cs typeface="Arial"/>
              </a:defRPr>
            </a:pPr>
            <a:r>
              <a:rPr sz="1950" b="0">
                <a:solidFill>
                  <a:srgbClr val="F4F7FA"/>
                </a:solidFill>
                <a:latin typeface="Arial"/>
                <a:ea typeface="Arial"/>
                <a:cs typeface="Arial"/>
              </a:rPr>
              <a:t>Solver runs in a background thread</a:t>
            </a:r>
          </a:p>
          <a:p>
            <a:pPr>
              <a:defRPr sz="1950" b="0">
                <a:solidFill>
                  <a:srgbClr val="F4F7FA"/>
                </a:solidFill>
                <a:latin typeface="Arial"/>
                <a:ea typeface="Arial"/>
                <a:cs typeface="Arial"/>
              </a:defRPr>
            </a:pPr>
            <a:r>
              <a:rPr sz="1950" b="0">
                <a:solidFill>
                  <a:srgbClr val="F4F7FA"/>
                </a:solidFill>
                <a:latin typeface="Arial"/>
                <a:ea typeface="Arial"/>
                <a:cs typeface="Arial"/>
              </a:rPr>
              <a:t>Users can cancel computation</a:t>
            </a:r>
          </a:p>
        </p:txBody>
      </p:sp>
      <p:sp>
        <p:nvSpPr>
          <p:cNvPr id="7" name="Rectangle 6">
            <a:extLst>
              <a:ext uri="{FF2B5EF4-FFF2-40B4-BE49-F238E27FC236}">
                <a16:creationId xmlns:a16="http://schemas.microsoft.com/office/drawing/2014/main" id="{C70BD95E-D770-4CD9-B4FA-B081851DD45C}"/>
              </a:ext>
            </a:extLst>
          </p:cNvPr>
          <p:cNvSpPr>
            <a:spLocks noGrp="1"/>
          </p:cNvSpPr>
          <p:nvPr/>
        </p:nvSpPr>
        <p:spPr>
          <a:xfrm>
            <a:off x="533400" y="4876800"/>
            <a:ext cx="5238750" cy="419100"/>
          </a:xfrm>
          <a:prstGeom prst="rect">
            <a:avLst/>
          </a:prstGeom>
          <a:noFill/>
          <a:ln w="0">
            <a:noFill/>
          </a:ln>
        </p:spPr>
        <p:txBody>
          <a:bodyPr>
            <a:noAutofit/>
          </a:bodyPr>
          <a:lstStyle/>
          <a:p>
            <a:pPr>
              <a:defRPr sz="2175" b="1">
                <a:solidFill>
                  <a:srgbClr val="8DD5E6"/>
                </a:solidFill>
                <a:latin typeface="Arial"/>
                <a:ea typeface="Arial"/>
                <a:cs typeface="Arial"/>
              </a:defRPr>
            </a:pPr>
            <a:r>
              <a:rPr sz="2175" b="1">
                <a:solidFill>
                  <a:srgbClr val="8DD5E6"/>
                </a:solidFill>
                <a:latin typeface="Arial"/>
                <a:ea typeface="Arial"/>
                <a:cs typeface="Arial"/>
              </a:rPr>
              <a:t>Smoother window resizing</a:t>
            </a:r>
          </a:p>
        </p:txBody>
      </p:sp>
      <p:sp>
        <p:nvSpPr>
          <p:cNvPr id="8" name="Rectangle 7">
            <a:extLst>
              <a:ext uri="{FF2B5EF4-FFF2-40B4-BE49-F238E27FC236}">
                <a16:creationId xmlns:a16="http://schemas.microsoft.com/office/drawing/2014/main" id="{7370E483-CD76-46D6-A412-4B1CCD8EEAF1}"/>
              </a:ext>
            </a:extLst>
          </p:cNvPr>
          <p:cNvSpPr>
            <a:spLocks noGrp="1"/>
          </p:cNvSpPr>
          <p:nvPr/>
        </p:nvSpPr>
        <p:spPr>
          <a:xfrm>
            <a:off x="533400" y="5334000"/>
            <a:ext cx="5238750" cy="781050"/>
          </a:xfrm>
          <a:prstGeom prst="rect">
            <a:avLst/>
          </a:prstGeom>
          <a:noFill/>
          <a:ln w="0">
            <a:noFill/>
          </a:ln>
        </p:spPr>
        <p:txBody>
          <a:bodyPr>
            <a:noAutofit/>
          </a:bodyPr>
          <a:lstStyle/>
          <a:p>
            <a:pPr>
              <a:defRPr sz="1950" b="0">
                <a:solidFill>
                  <a:srgbClr val="F4F7FA"/>
                </a:solidFill>
                <a:latin typeface="Arial"/>
                <a:ea typeface="Arial"/>
                <a:cs typeface="Arial"/>
              </a:defRPr>
            </a:pPr>
            <a:r>
              <a:rPr sz="1950" b="0">
                <a:solidFill>
                  <a:srgbClr val="F4F7FA"/>
                </a:solidFill>
                <a:latin typeface="Arial"/>
                <a:ea typeface="Arial"/>
                <a:cs typeface="Arial"/>
              </a:rPr>
              <a:t>Static map bitmap cache</a:t>
            </a:r>
          </a:p>
          <a:p>
            <a:pPr>
              <a:defRPr sz="1950" b="0">
                <a:solidFill>
                  <a:srgbClr val="F4F7FA"/>
                </a:solidFill>
                <a:latin typeface="Arial"/>
                <a:ea typeface="Arial"/>
                <a:cs typeface="Arial"/>
              </a:defRPr>
            </a:pPr>
            <a:r>
              <a:rPr sz="1950" b="0">
                <a:solidFill>
                  <a:srgbClr val="F4F7FA"/>
                </a:solidFill>
                <a:latin typeface="Arial"/>
                <a:ea typeface="Arial"/>
                <a:cs typeface="Arial"/>
              </a:rPr>
              <a:t>Temporarily simplified rendering</a:t>
            </a:r>
          </a:p>
        </p:txBody>
      </p:sp>
      <p:pic>
        <p:nvPicPr>
          <p:cNvPr id="19" name="Picture 18"/>
          <p:cNvPicPr>
            <a:picLocks noChangeAspect="1"/>
          </p:cNvPicPr>
          <p:nvPr/>
        </p:nvPicPr>
        <p:blipFill>
          <a:blip r:embed="rId3"/>
          <a:stretch/>
        </p:blipFill>
        <p:spPr>
          <a:xfrm>
            <a:off x="6191250" y="1956361"/>
            <a:ext cx="5467350" cy="3231027"/>
          </a:xfrm>
          <a:prstGeom prst="rect">
            <a:avLst/>
          </a:prstGeom>
        </p:spPr>
      </p:pic>
      <p:sp>
        <p:nvSpPr>
          <p:cNvPr id="10" name="Rectangle 9">
            <a:extLst>
              <a:ext uri="{FF2B5EF4-FFF2-40B4-BE49-F238E27FC236}">
                <a16:creationId xmlns:a16="http://schemas.microsoft.com/office/drawing/2014/main" id="{F310BD9E-0156-4D6A-B027-8517EB277BBA}"/>
              </a:ext>
            </a:extLst>
          </p:cNvPr>
          <p:cNvSpPr>
            <a:spLocks noGrp="1"/>
          </p:cNvSpPr>
          <p:nvPr/>
        </p:nvSpPr>
        <p:spPr>
          <a:xfrm>
            <a:off x="6191250" y="5667375"/>
            <a:ext cx="5467350" cy="447675"/>
          </a:xfrm>
          <a:prstGeom prst="rect">
            <a:avLst/>
          </a:prstGeom>
          <a:noFill/>
          <a:ln w="0">
            <a:noFill/>
          </a:ln>
        </p:spPr>
        <p:txBody>
          <a:bodyPr>
            <a:noAutofit/>
          </a:bodyPr>
          <a:lstStyle/>
          <a:p>
            <a:pPr>
              <a:defRPr sz="2250" b="1">
                <a:solidFill>
                  <a:srgbClr val="8DD5E6"/>
                </a:solidFill>
                <a:latin typeface="Arial"/>
                <a:ea typeface="Arial"/>
                <a:cs typeface="Arial"/>
              </a:defRPr>
            </a:pPr>
            <a:r>
              <a:rPr sz="2250" b="1">
                <a:solidFill>
                  <a:srgbClr val="8DD5E6"/>
                </a:solidFill>
                <a:latin typeface="Arial"/>
                <a:ea typeface="Arial"/>
                <a:cs typeface="Arial"/>
              </a:rPr>
              <a:t>Live demonstration</a:t>
            </a:r>
          </a:p>
        </p:txBody>
      </p:sp>
    </p:spTree>
    <p:extLst>
      <p:ext uri="{BB962C8B-B14F-4D97-AF65-F5344CB8AC3E}">
        <p14:creationId xmlns:p14="http://schemas.microsoft.com/office/powerpoint/2010/main" val="817474042"/>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Slice</Template>
  <TotalTime>0</TotalTime>
  <Words>544</Words>
  <Application>Microsoft Office PowerPoint</Application>
  <DocSecurity>0</DocSecurity>
  <PresentationFormat>Widescreen</PresentationFormat>
  <Paragraphs>53</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Century Gothic</vt:lpstr>
      <vt:lpstr>Wingdings 3</vt:lpstr>
      <vt:lpstr>Slice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Irfan Hadzic</cp:lastModifiedBy>
  <cp:revision>1</cp:revision>
  <dcterms:created xsi:type="dcterms:W3CDTF">2026-09-18T20:21:37Z</dcterms:created>
  <dcterms:modified xsi:type="dcterms:W3CDTF">2026-09-18T20:26:26Z</dcterms:modified>
</cp:coreProperties>
</file>